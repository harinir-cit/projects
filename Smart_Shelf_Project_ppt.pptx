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82" y="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9690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52705"/>
            <a:ext cx="9006840" cy="1883664"/>
          </a:xfrm>
          <a:prstGeom prst="rect">
            <a:avLst/>
          </a:prstGeom>
        </p:spPr>
      </p:pic>
      <p:pic>
        <p:nvPicPr>
          <p:cNvPr id="3" name="Image 1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3848" y="128016"/>
            <a:ext cx="1984248" cy="145389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21488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300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27249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DEVELOPMENT</a:t>
            </a:r>
            <a:endParaRPr lang="en-US" sz="30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32918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AI-POWERED SMART SHELF &amp; FOOD SAFETY AUDITOR</a:t>
            </a:r>
            <a:endParaRPr lang="en-US" sz="2000" dirty="0"/>
          </a:p>
        </p:txBody>
      </p:sp>
      <p:sp>
        <p:nvSpPr>
          <p:cNvPr id="7" name="Text 3"/>
          <p:cNvSpPr txBox="1"/>
          <p:nvPr/>
        </p:nvSpPr>
        <p:spPr>
          <a:xfrm>
            <a:off x="758952" y="45262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Presentation by: Harini R (24CS0298)</a:t>
            </a: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7589520" y="45262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Supervisor: Mrs. Lydia Shammi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2651760" y="63825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DEVELOPMENT – PROJECT REVIEW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3848" y="128016"/>
            <a:ext cx="1984248" cy="1453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41832" y="4572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2651760" y="63825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DEVELOPMENT – PROJECT REVIEW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941832" y="1783080"/>
            <a:ext cx="91440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0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Aim, Objectives and Scope of the Proposed Work</a:t>
            </a:r>
            <a:endParaRPr lang="en-US" sz="20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&amp; Existing Systems</a:t>
            </a:r>
            <a:endParaRPr lang="en-US" sz="20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Background &amp; Development Environment</a:t>
            </a:r>
            <a:endParaRPr lang="en-US" sz="20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Input Data</a:t>
            </a:r>
            <a:endParaRPr lang="en-US" sz="20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System Design</a:t>
            </a:r>
            <a:endParaRPr lang="en-US" sz="20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– Modules, Diagrams and App Screens</a:t>
            </a:r>
            <a:endParaRPr lang="en-US" sz="20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&amp; SMS Alerts</a:t>
            </a:r>
            <a:endParaRPr lang="en-US" sz="20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Status, Testing &amp; Results</a:t>
            </a:r>
            <a:endParaRPr lang="en-US" sz="20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Conclusion, Future Enhancements &amp; Applications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3848" y="128016"/>
            <a:ext cx="1984248" cy="1453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41832" y="4572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2651760" y="63825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DEVELOPMENT – PROJECT REVIEW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941832" y="1691640"/>
            <a:ext cx="10241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food is forgotten and expires unnoticed.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digital pantry record: duplicates are bought, expiry dates untracked.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 food is discarded, wasting money and resources.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apps solve one part only: lists stop at purchase, trackers give no recipes, recipe apps ignore pantry stock.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tracking, reminders, AI cooking and analytics in one loop.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941832" y="457200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F7F8FA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41832" y="4572000"/>
            <a:ext cx="109728" cy="1554480"/>
          </a:xfrm>
          <a:prstGeom prst="roundRect">
            <a:avLst>
              <a:gd name="adj" fmla="val 66667"/>
            </a:avLst>
          </a:prstGeom>
          <a:solidFill>
            <a:srgbClr val="C62828"/>
          </a:solidFill>
          <a:ln w="9525">
            <a:solidFill>
              <a:srgbClr val="C6282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216152" y="4709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Forgotten stock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216152" y="51206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sit at the back of the shelf until they expire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53712" y="457200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F7F8FA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53712" y="4572000"/>
            <a:ext cx="109728" cy="1554480"/>
          </a:xfrm>
          <a:prstGeom prst="roundRect">
            <a:avLst>
              <a:gd name="adj" fmla="val 66667"/>
            </a:avLst>
          </a:prstGeom>
          <a:solidFill>
            <a:srgbClr val="E58A00"/>
          </a:solidFill>
          <a:ln w="9525">
            <a:solidFill>
              <a:srgbClr val="E58A0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28032" y="4709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5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pantry record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828032" y="51206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get bought and expiry dates go untracked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165592" y="457200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F7F8FA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165592" y="4572000"/>
            <a:ext cx="109728" cy="1554480"/>
          </a:xfrm>
          <a:prstGeom prst="roundRect">
            <a:avLst>
              <a:gd name="adj" fmla="val 66667"/>
            </a:avLst>
          </a:prstGeom>
          <a:solidFill>
            <a:srgbClr val="1B7295"/>
          </a:solidFill>
          <a:ln w="9525">
            <a:solidFill>
              <a:srgbClr val="1B729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4709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72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part only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439912" y="51206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Lists, trackers and recipe apps each cover just a piece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3848" y="128016"/>
            <a:ext cx="1984248" cy="1453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41832" y="4572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and Objectives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2651760" y="63825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DEVELOPMENT – PROJECT REVIEW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941832" y="1691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941832" y="205740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build a focused Android app that makes household food-waste reduction practical by joining expiry tracking, reminders, AI-assisted cooking and usage analytics in one continuous loop.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2960" y="301752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F7F8FA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05840" y="3200400"/>
            <a:ext cx="502920" cy="502920"/>
          </a:xfrm>
          <a:prstGeom prst="ellipse">
            <a:avLst/>
          </a:prstGeom>
          <a:solidFill>
            <a:srgbClr val="1B7295"/>
          </a:solidFill>
          <a:ln w="12700">
            <a:solidFill>
              <a:srgbClr val="1B729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0584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691640" y="301752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printed expiry dates from product packaging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400800" y="301752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F7F8FA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0" y="3200400"/>
            <a:ext cx="502920" cy="502920"/>
          </a:xfrm>
          <a:prstGeom prst="ellipse">
            <a:avLst/>
          </a:prstGeom>
          <a:solidFill>
            <a:srgbClr val="1B7295"/>
          </a:solidFill>
          <a:ln w="12700">
            <a:solidFill>
              <a:srgbClr val="1B729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58368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269480" y="301752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persistent, searchable, offline-capable pantry record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822960" y="406908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F7F8FA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05840" y="4251960"/>
            <a:ext cx="502920" cy="502920"/>
          </a:xfrm>
          <a:prstGeom prst="ellipse">
            <a:avLst/>
          </a:prstGeom>
          <a:solidFill>
            <a:srgbClr val="1B7295"/>
          </a:solidFill>
          <a:ln w="12700">
            <a:solidFill>
              <a:srgbClr val="1B729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0584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691640" y="406908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 dynamic, date-based expiry countdown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400800" y="406908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F7F8FA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583680" y="4251960"/>
            <a:ext cx="502920" cy="502920"/>
          </a:xfrm>
          <a:prstGeom prst="ellipse">
            <a:avLst/>
          </a:prstGeom>
          <a:solidFill>
            <a:srgbClr val="1B7295"/>
          </a:solidFill>
          <a:ln w="12700">
            <a:solidFill>
              <a:srgbClr val="1B729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7269480" y="406908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configurable reminders (7 / 3 / 1 day, on the day)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822960" y="512064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F7F8FA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005840" y="5303520"/>
            <a:ext cx="502920" cy="502920"/>
          </a:xfrm>
          <a:prstGeom prst="ellipse">
            <a:avLst/>
          </a:prstGeom>
          <a:solidFill>
            <a:srgbClr val="1B7295"/>
          </a:solidFill>
          <a:ln w="12700">
            <a:solidFill>
              <a:srgbClr val="1B7295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5840" y="5303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1691640" y="512064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expiry-aware AI recipes with nutrition info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6400800" y="512064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F7F8FA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583680" y="5303520"/>
            <a:ext cx="502920" cy="502920"/>
          </a:xfrm>
          <a:prstGeom prst="ellipse">
            <a:avLst/>
          </a:prstGeom>
          <a:solidFill>
            <a:srgbClr val="1B7295"/>
          </a:solidFill>
          <a:ln w="12700">
            <a:solidFill>
              <a:srgbClr val="1B7295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5303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7269480" y="512064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real cooked / expired events in a waste dashboard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3848" y="128016"/>
            <a:ext cx="1984248" cy="1453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41832" y="4572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the Proposed Work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2651760" y="63825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DEVELOPMENT – PROJECT REVIEW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941832" y="1691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 (Implemented)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263640" y="1691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 (This Phase)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2960" y="2103120"/>
            <a:ext cx="5257800" cy="4023360"/>
          </a:xfrm>
          <a:prstGeom prst="roundRect">
            <a:avLst>
              <a:gd name="adj" fmla="val 1818"/>
            </a:avLst>
          </a:prstGeom>
          <a:solidFill>
            <a:srgbClr val="E8F3EA"/>
          </a:solidFill>
          <a:ln w="12700">
            <a:solidFill>
              <a:srgbClr val="E8F3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172200" y="2103120"/>
            <a:ext cx="5257800" cy="4023360"/>
          </a:xfrm>
          <a:prstGeom prst="roundRect">
            <a:avLst>
              <a:gd name="adj" fmla="val 1818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05840" y="2240280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barcode / text scanning with ML Kit, plus manual entry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pantry database with live expiry countdown and colour-coded status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reminders delivered as push notifications (WorkManager + FCM)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Phone-OTP login by SMS (Firebase Phone Authentication)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Expiry-aware AI recipes with nutrition info through a secure backend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 Mode, “I Cooked This!” and food-waste analytics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pantry assistant and five personality modes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355080" y="2240280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family pantry accounts across devices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 tracking against personal dietary goals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Purchase-history expiry estimates for undated items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Hands-free voice guidance inside Cook Mode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for money saved and environmental impact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Faded or handwritten labels (manual entry is the fallback)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Multi-household use: current design targets a single household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3848" y="128016"/>
            <a:ext cx="1984248" cy="1453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41832" y="4572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– Papers 1–8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2651760" y="63825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DEVELOPMENT – PROJECT REVIEW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45920"/>
          <a:ext cx="11155680" cy="438912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6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6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/ Author (Year)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FreshBot – AI Food Freshness Detector (RJPN, 2025)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VGG16 CNN trained in Colab, 97% accuracy classifying fruits/veg fresh vs rotten; deployed via Streamlit + Flutter with a chatbot assistant.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Recent Advances of AI-Aided Intelligent Packaging (PMC, 2023)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of AI-assisted packaging for freshness testing; flags the field as experimental, with no unified materials + AI system.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Intelligent Equipment for Quality Deterioration Detection (Foods, 2024)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 of computer vision, e-nose, hyperspectral imaging, and NIR sensors for real-time quality tracking across the supply chain.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Food Freshness Detection via Computer Vision (IEEE, 2024)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Pixel-neighborhood difference algorithm detects freshness change from image regions, without deep-learning overhead.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FreshDNN: Deep Learning for Fruit/Veg Freshness (2023)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Lightweight custom CNN benchmarked against 6 pretrained models on merged Kaggle + Mendeley data, 16 produce classes.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of Machine Vision in Food Computing (ScienceDirect, 2024)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Reviews ML/deep-learning image recognition across food safety, nutrition analysis, and process monitoring.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Freshness Detection via Deep Features + PCA (2023)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EfficientNetB7/VGG16/VGG19/ResNet50 model — 99.92% precision, 1.2s average response, near real-time.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IoT-Based Smart Inventory Management for Kitchen (2025)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kitchen inventory via IoT sensors to track stock levels and prevent spoilage/waste.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3848" y="128016"/>
            <a:ext cx="1984248" cy="1453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41832" y="4572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– Papers 9–15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2651760" y="63825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DEVELOPMENT – PROJECT REVIEW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45920"/>
          <a:ext cx="11155680" cy="38862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6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6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/ Author (Year)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 Inventory System for Expiry Date Tracking – ESP32 (2025)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 smart rack notifies owners a week before expiry via LCD + push alerts; adds smoke/moisture sensors.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 Grocery Kit: IoT-Based Automated Inventory (2025)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Reviews IoT camera-based inventory tracking; cites federated-learning-driven freshness monitoring via gas/temp sensors.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Extracting Nutritional Info from Bilingual Labels Using LLMs (2025)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Benchmarks GPT-4V, GPT-4o, and Gemini on label nutrition extraction; GPT-4o edges out Gemini on non-English text.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Multimodal Fine-Grained Grocery Product Recognition (2024)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Combines product images with OCR label text to outperform image-only or text-only models on SKU recognition.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Harmful Ingredient Detection via OCR + bi-LSTM (WellnessCare, 2025)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OCR pipeline feeds a bi-LSTM model to flag harmful ingredients, matched against a curated hazard database.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OCR-Based Ingredient Recognition for Consumer Well-Being (2024)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 app using Google ML Kit OCR + Levenshtein matching to flag toxic/allergenic ingredients from label scans.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NutriScan: AI-Based Ingredient Detection &amp; Evaluation (IJERT, 2025)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Tesseract OCR + Random Forest (200 trees) sorts ingredients into Healthy/Neutral/Harmful using E-number/additive features.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822960" y="557784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Gap: Papers 1–7 tackle freshness detection, 8–10 tackle inventory tracking, and 11–15 tackle label reading / ingredient analysis — none of them joins on-device label scanning, a persistent pantry with reminders, and AI cooking in one household mobile app. This project targets exactly that gap.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3848" y="128016"/>
            <a:ext cx="1984248" cy="1453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41832" y="4572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– Where This Project Fits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2651760" y="63825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DEVELOPMENT – PROJECT REVIEW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822960" y="1828800"/>
            <a:ext cx="3383280" cy="2011680"/>
          </a:xfrm>
          <a:prstGeom prst="roundRect">
            <a:avLst>
              <a:gd name="adj" fmla="val 3636"/>
            </a:avLst>
          </a:prstGeom>
          <a:solidFill>
            <a:srgbClr val="F7F8FA"/>
          </a:solidFill>
          <a:ln w="25400">
            <a:solidFill>
              <a:srgbClr val="1B729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1828800"/>
            <a:ext cx="3383280" cy="548640"/>
          </a:xfrm>
          <a:prstGeom prst="roundRect">
            <a:avLst>
              <a:gd name="adj" fmla="val 13333"/>
            </a:avLst>
          </a:prstGeom>
          <a:solidFill>
            <a:srgbClr val="1B7295"/>
          </a:solidFill>
          <a:ln w="9525">
            <a:solidFill>
              <a:srgbClr val="1B729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8288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Freshness Detection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2514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72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1–7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28803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CNNs, computer vision, packaging and sensing for fresh vs rotten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2514600" y="3840480"/>
            <a:ext cx="0" cy="411480"/>
          </a:xfrm>
          <a:prstGeom prst="line">
            <a:avLst/>
          </a:prstGeom>
          <a:noFill/>
          <a:ln w="22225">
            <a:solidFill>
              <a:srgbClr val="1B729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80560" y="1828800"/>
            <a:ext cx="3383280" cy="2011680"/>
          </a:xfrm>
          <a:prstGeom prst="roundRect">
            <a:avLst>
              <a:gd name="adj" fmla="val 3636"/>
            </a:avLst>
          </a:prstGeom>
          <a:solidFill>
            <a:srgbClr val="F7F8FA"/>
          </a:solidFill>
          <a:ln w="25400">
            <a:solidFill>
              <a:srgbClr val="0F766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80560" y="1828800"/>
            <a:ext cx="3383280" cy="548640"/>
          </a:xfrm>
          <a:prstGeom prst="roundRect">
            <a:avLst>
              <a:gd name="adj" fmla="val 13333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480560" y="18288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Tracking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663440" y="2514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8–10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4663440" y="28803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racks, ESP32 and camera-based stock tracking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172200" y="3840480"/>
            <a:ext cx="0" cy="411480"/>
          </a:xfrm>
          <a:prstGeom prst="line">
            <a:avLst/>
          </a:prstGeom>
          <a:noFill/>
          <a:ln w="22225">
            <a:solidFill>
              <a:srgbClr val="0F766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138160" y="1828800"/>
            <a:ext cx="3383280" cy="2011680"/>
          </a:xfrm>
          <a:prstGeom prst="roundRect">
            <a:avLst>
              <a:gd name="adj" fmla="val 3636"/>
            </a:avLst>
          </a:prstGeom>
          <a:solidFill>
            <a:srgbClr val="F7F8FA"/>
          </a:solidFill>
          <a:ln w="25400">
            <a:solidFill>
              <a:srgbClr val="E58A0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138160" y="1828800"/>
            <a:ext cx="3383280" cy="548640"/>
          </a:xfrm>
          <a:prstGeom prst="roundRect">
            <a:avLst>
              <a:gd name="adj" fmla="val 13333"/>
            </a:avLst>
          </a:prstGeom>
          <a:solidFill>
            <a:srgbClr val="E58A00"/>
          </a:solidFill>
          <a:ln w="9525">
            <a:solidFill>
              <a:srgbClr val="E58A0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138160" y="18288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Reading / Ingredients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321040" y="2514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5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11–15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8321040" y="28803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+ ML / LLMs that read and evaluate product labels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9829800" y="3840480"/>
            <a:ext cx="0" cy="411480"/>
          </a:xfrm>
          <a:prstGeom prst="line">
            <a:avLst/>
          </a:prstGeom>
          <a:noFill/>
          <a:ln w="22225">
            <a:solidFill>
              <a:srgbClr val="E58A0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514600" y="4251960"/>
            <a:ext cx="7315200" cy="0"/>
          </a:xfrm>
          <a:prstGeom prst="line">
            <a:avLst/>
          </a:prstGeom>
          <a:noFill/>
          <a:ln w="22225">
            <a:solidFill>
              <a:srgbClr val="20265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172200" y="4251960"/>
            <a:ext cx="0" cy="274320"/>
          </a:xfrm>
          <a:prstGeom prst="line">
            <a:avLst/>
          </a:prstGeom>
          <a:noFill/>
          <a:ln w="22225">
            <a:solidFill>
              <a:srgbClr val="20265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194560" y="4526280"/>
            <a:ext cx="7955280" cy="1371600"/>
          </a:xfrm>
          <a:prstGeom prst="roundRect">
            <a:avLst>
              <a:gd name="adj" fmla="val 5333"/>
            </a:avLst>
          </a:prstGeom>
          <a:solidFill>
            <a:srgbClr val="20265A"/>
          </a:solidFill>
          <a:ln w="9525">
            <a:solidFill>
              <a:srgbClr val="20265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2194560" y="461772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Smart Shelf &amp; Food Safety Auditor</a:t>
            </a:r>
            <a:endParaRPr lang="en-US" sz="2000" dirty="0"/>
          </a:p>
        </p:txBody>
      </p:sp>
      <p:sp>
        <p:nvSpPr>
          <p:cNvPr id="27" name="Text 24"/>
          <p:cNvSpPr txBox="1"/>
          <p:nvPr/>
        </p:nvSpPr>
        <p:spPr>
          <a:xfrm>
            <a:off x="2194560" y="51206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→ track expiry → remind → cook → analyse, all in a single Android app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3848" y="128016"/>
            <a:ext cx="1984248" cy="1453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41832" y="4572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 vs Smart Pantry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2651760" y="63825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DEVELOPMENT – PROJECT REVIEW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28800"/>
          <a:ext cx="10515600" cy="3566160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of app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Expiry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recipe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Waste stats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Grocery list (Bring!…)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Expiry tracker (NoWaste…)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Recipe apps (Yummly…)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Retail inventory apps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 Pantry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822960" y="53035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Smart Pantry covers expiry tracking, AI recipes, waste statistics, offline use and a home-focused design together.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3848" y="128016"/>
            <a:ext cx="1984248" cy="1453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41832" y="4572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Background – Software Stack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2651760" y="63825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DEVELOPMENT – PROJECT REVIEW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731520" y="178308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7F8FA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78308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20265A"/>
          </a:solidFill>
          <a:ln w="9525">
            <a:solidFill>
              <a:srgbClr val="20265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4672" y="17830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3774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language for all application logic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520440" y="178308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7F8FA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20440" y="178308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1B7295"/>
          </a:solidFill>
          <a:ln w="9525">
            <a:solidFill>
              <a:srgbClr val="1B729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593592" y="17830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Coroutines / Flow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657600" y="23774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 work and live, reactive pantry queries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309360" y="178308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7F8FA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309360" y="178308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0B5A82"/>
          </a:solidFill>
          <a:ln w="9525">
            <a:solidFill>
              <a:srgbClr val="0B5A8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382512" y="17830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Jetpack Compose + XML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446520" y="23774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UI for the app screens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9098280" y="178308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7F8FA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98280" y="178308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171432" y="17830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(SQLite)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9235440" y="23774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pantry database that survives app close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731520" y="32918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7F8FA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31520" y="329184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20265A"/>
          </a:solidFill>
          <a:ln w="9525">
            <a:solidFill>
              <a:srgbClr val="20265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04672" y="3291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Kit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868680" y="38862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barcode and text recognition for scanning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3520440" y="32918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7F8FA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520440" y="329184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1B7295"/>
          </a:solidFill>
          <a:ln w="9525">
            <a:solidFill>
              <a:srgbClr val="1B7295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593592" y="3291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WorkManager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3657600" y="38862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reminder scheduler that runs in the background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6309360" y="32918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7F8FA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309360" y="329184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0B5A82"/>
          </a:solidFill>
          <a:ln w="9525">
            <a:solidFill>
              <a:srgbClr val="0B5A8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382512" y="3291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Phone Auth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6446520" y="38862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login delivered by SMS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9098280" y="32918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7F8FA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098280" y="329184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171432" y="3291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Cloud Messaging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9235440" y="38862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naming the expiring item</a:t>
            </a:r>
            <a:endParaRPr lang="en-US" sz="1250" dirty="0"/>
          </a:p>
        </p:txBody>
      </p:sp>
      <p:sp>
        <p:nvSpPr>
          <p:cNvPr id="37" name="Shape 34"/>
          <p:cNvSpPr/>
          <p:nvPr/>
        </p:nvSpPr>
        <p:spPr>
          <a:xfrm>
            <a:off x="731520" y="48006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7F8FA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31520" y="480060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20265A"/>
          </a:solidFill>
          <a:ln w="9525">
            <a:solidFill>
              <a:srgbClr val="20265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804672" y="48006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Retrofit / OkHttp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868680" y="53949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calls to the secure AI backend</a:t>
            </a:r>
            <a:endParaRPr lang="en-US" sz="1250" dirty="0"/>
          </a:p>
        </p:txBody>
      </p:sp>
      <p:sp>
        <p:nvSpPr>
          <p:cNvPr id="41" name="Shape 38"/>
          <p:cNvSpPr/>
          <p:nvPr/>
        </p:nvSpPr>
        <p:spPr>
          <a:xfrm>
            <a:off x="3520440" y="48006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7F8FA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3520440" y="480060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1B7295"/>
          </a:solidFill>
          <a:ln w="9525">
            <a:solidFill>
              <a:srgbClr val="1B7295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3593592" y="48006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Backend / API</a:t>
            </a:r>
            <a:endParaRPr lang="en-US" sz="1400" dirty="0"/>
          </a:p>
        </p:txBody>
      </p:sp>
      <p:sp>
        <p:nvSpPr>
          <p:cNvPr id="44" name="Text 41"/>
          <p:cNvSpPr txBox="1"/>
          <p:nvPr/>
        </p:nvSpPr>
        <p:spPr>
          <a:xfrm>
            <a:off x="3657600" y="53949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API keys off the APK (HTTPS only)</a:t>
            </a:r>
            <a:endParaRPr lang="en-US" sz="1250" dirty="0"/>
          </a:p>
        </p:txBody>
      </p:sp>
      <p:sp>
        <p:nvSpPr>
          <p:cNvPr id="45" name="Shape 42"/>
          <p:cNvSpPr/>
          <p:nvPr/>
        </p:nvSpPr>
        <p:spPr>
          <a:xfrm>
            <a:off x="6309360" y="48006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7F8FA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309360" y="480060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0B5A82"/>
          </a:solidFill>
          <a:ln w="9525">
            <a:solidFill>
              <a:srgbClr val="0B5A82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6382512" y="48006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Studio</a:t>
            </a:r>
            <a:endParaRPr lang="en-US" sz="1400" dirty="0"/>
          </a:p>
        </p:txBody>
      </p:sp>
      <p:sp>
        <p:nvSpPr>
          <p:cNvPr id="48" name="Text 45"/>
          <p:cNvSpPr txBox="1"/>
          <p:nvPr/>
        </p:nvSpPr>
        <p:spPr>
          <a:xfrm>
            <a:off x="6446520" y="53949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IDE, emulator (Pixel 6, API 34) and debugging</a:t>
            </a:r>
            <a:endParaRPr lang="en-US" sz="1250" dirty="0"/>
          </a:p>
        </p:txBody>
      </p:sp>
      <p:sp>
        <p:nvSpPr>
          <p:cNvPr id="49" name="Shape 46"/>
          <p:cNvSpPr/>
          <p:nvPr/>
        </p:nvSpPr>
        <p:spPr>
          <a:xfrm>
            <a:off x="9098280" y="48006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7F8FA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9098280" y="480060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9171432" y="48006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400" dirty="0"/>
          </a:p>
        </p:txBody>
      </p:sp>
      <p:sp>
        <p:nvSpPr>
          <p:cNvPr id="52" name="Text 49"/>
          <p:cNvSpPr txBox="1"/>
          <p:nvPr/>
        </p:nvSpPr>
        <p:spPr>
          <a:xfrm>
            <a:off x="9235440" y="53949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and team collaboration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3848" y="128016"/>
            <a:ext cx="1984248" cy="1453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41832" y="4572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Background – Core Concepts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2651760" y="63825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DEVELOPMENT – PROJECT REVIEW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822960" y="1783080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F7F8FA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1783080"/>
            <a:ext cx="128016" cy="2011680"/>
          </a:xfrm>
          <a:prstGeom prst="roundRect">
            <a:avLst>
              <a:gd name="adj" fmla="val 57143"/>
            </a:avLst>
          </a:prstGeom>
          <a:solidFill>
            <a:srgbClr val="1B7295"/>
          </a:solidFill>
          <a:ln w="9525">
            <a:solidFill>
              <a:srgbClr val="1B729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88720" y="194767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B72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scanning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2468880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Kit reads the printed expiry date and barcode on the phone. If the label is unreadable the app asks for manual entry instead of inventing a date.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309360" y="1783080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F7F8FA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09360" y="1783080"/>
            <a:ext cx="128016" cy="2011680"/>
          </a:xfrm>
          <a:prstGeom prst="roundRect">
            <a:avLst>
              <a:gd name="adj" fmla="val 57143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675120" y="194767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 pantry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675120" y="2468880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DAO + Flow keep the pantry on the device, so the core pantry keeps working offline while AI features fail gracefully.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822960" y="4023360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F7F8FA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22960" y="4023360"/>
            <a:ext cx="128016" cy="2011680"/>
          </a:xfrm>
          <a:prstGeom prst="roundRect">
            <a:avLst>
              <a:gd name="adj" fmla="val 57143"/>
            </a:avLst>
          </a:prstGeom>
          <a:solidFill>
            <a:srgbClr val="B45309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188720" y="418795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expiry utility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188720" y="4709160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remaining is always recalculated from the current date, so countdowns and colours stay consistent on every screen.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6309360" y="4023360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F7F8FA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309360" y="4023360"/>
            <a:ext cx="128016" cy="2011680"/>
          </a:xfrm>
          <a:prstGeom prst="roundRect">
            <a:avLst>
              <a:gd name="adj" fmla="val 57143"/>
            </a:avLst>
          </a:prstGeom>
          <a:solidFill>
            <a:srgbClr val="20265A"/>
          </a:solidFill>
          <a:ln w="9525">
            <a:solidFill>
              <a:srgbClr val="20265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675120" y="418795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0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backend &amp; auth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6675120" y="4709160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AI / nutrition requests go through the backend over HTTPS with keys kept off the APK; Phone-OTP login gates the whole app.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3848" y="128016"/>
            <a:ext cx="1984248" cy="1453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41832" y="4572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Environment – Android Studio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2651760" y="63825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DEVELOPMENT – PROJECT REVIEW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713232" y="1764792"/>
            <a:ext cx="7168896" cy="3867912"/>
          </a:xfrm>
          <a:prstGeom prst="roundRect">
            <a:avLst>
              <a:gd name="adj" fmla="val 1891"/>
            </a:avLst>
          </a:prstGeom>
          <a:solidFill>
            <a:srgbClr val="D9DDE3"/>
          </a:solidFill>
          <a:ln w="9525">
            <a:solidFill>
              <a:srgbClr val="D9DDE3"/>
            </a:solidFill>
            <a:prstDash val="solid"/>
          </a:ln>
        </p:spPr>
      </p:sp>
      <p:pic>
        <p:nvPicPr>
          <p:cNvPr id="6" name="Image 1" descr="studi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874520"/>
            <a:ext cx="6949440" cy="364845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22960" y="5705856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Pantry project workspace in Android Studio (Gradle Kotlin DSL build scripts)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8092440" y="1783080"/>
            <a:ext cx="3566160" cy="82296"/>
          </a:xfrm>
          <a:prstGeom prst="roundRect">
            <a:avLst>
              <a:gd name="adj" fmla="val 88889"/>
            </a:avLst>
          </a:prstGeom>
          <a:solidFill>
            <a:srgbClr val="1B7295"/>
          </a:solidFill>
          <a:ln w="9525">
            <a:solidFill>
              <a:srgbClr val="1B7295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092440" y="194767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72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screenshot shows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092440" y="233172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Smart_Pantry with the :app module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 scripts: build.gradle.kts (project + module), libs.versions.toml, settings.gradle.kts, proguard-rules.pro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Plugins applied: </a:t>
            </a: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android.application, kotlin.compose, google.devtools.ksp, secrets, google.services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3848" y="128016"/>
            <a:ext cx="1984248" cy="1453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41832" y="4572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Input Data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2651760" y="63825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DEVELOPMENT – PROJECT REVIEW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822960" y="1783080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F7F8FA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1783080"/>
            <a:ext cx="5257800" cy="91440"/>
          </a:xfrm>
          <a:prstGeom prst="roundRect">
            <a:avLst>
              <a:gd name="adj" fmla="val 80000"/>
            </a:avLst>
          </a:prstGeom>
          <a:solidFill>
            <a:srgbClr val="1B7295"/>
          </a:solidFill>
          <a:ln w="9525">
            <a:solidFill>
              <a:srgbClr val="1B729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51560" y="198424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72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dataset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246888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works on live user scans only: a package image is converted to text / barcode on the device and the user confirms the result.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72200" y="1783080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F7F8FA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172200" y="1783080"/>
            <a:ext cx="5257800" cy="91440"/>
          </a:xfrm>
          <a:prstGeom prst="roundRect">
            <a:avLst>
              <a:gd name="adj" fmla="val 80000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0" y="198424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PantryItem record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6400800" y="246888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brand, category, quantity, expiryDate, addedDate, image and notes — one row per item in the Room database.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22960" y="4023360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F7F8FA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22960" y="4023360"/>
            <a:ext cx="5257800" cy="91440"/>
          </a:xfrm>
          <a:prstGeom prst="roundRect">
            <a:avLst>
              <a:gd name="adj" fmla="val 80000"/>
            </a:avLst>
          </a:prstGeom>
          <a:solidFill>
            <a:srgbClr val="B45309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51560" y="422452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pantry queries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1051560" y="470916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voice assistant takes spoken pantry questions as an additional input, using fixed intents.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172200" y="4023360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F7F8FA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172200" y="4023360"/>
            <a:ext cx="5257800" cy="91440"/>
          </a:xfrm>
          <a:prstGeom prst="roundRect">
            <a:avLst>
              <a:gd name="adj" fmla="val 80000"/>
            </a:avLst>
          </a:prstGeom>
          <a:solidFill>
            <a:srgbClr val="20265A"/>
          </a:solidFill>
          <a:ln w="9525">
            <a:solidFill>
              <a:srgbClr val="20265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00800" y="422452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0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was tested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6400800" y="470916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the Android Studio emulator (Pixel 6, API 34); OTP, camera and push were verified on a physical phone.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3848" y="128016"/>
            <a:ext cx="1984248" cy="1453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41832" y="4572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– Closed-Loop Workflow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2651760" y="63825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DEVELOPMENT – PROJECT REVIEW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02920" y="2103120"/>
            <a:ext cx="1417320" cy="2377440"/>
          </a:xfrm>
          <a:prstGeom prst="roundRect">
            <a:avLst>
              <a:gd name="adj" fmla="val 5161"/>
            </a:avLst>
          </a:prstGeom>
          <a:solidFill>
            <a:srgbClr val="F7F8FA"/>
          </a:solidFill>
          <a:ln w="25400">
            <a:solidFill>
              <a:srgbClr val="20265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02920" y="21945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0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74320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338328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+ ML Kit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920240" y="3291840"/>
            <a:ext cx="210312" cy="0"/>
          </a:xfrm>
          <a:prstGeom prst="line">
            <a:avLst/>
          </a:prstGeom>
          <a:noFill/>
          <a:ln w="22225">
            <a:solidFill>
              <a:srgbClr val="20265A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130552" y="2103120"/>
            <a:ext cx="1417320" cy="2377440"/>
          </a:xfrm>
          <a:prstGeom prst="roundRect">
            <a:avLst>
              <a:gd name="adj" fmla="val 5161"/>
            </a:avLst>
          </a:prstGeom>
          <a:solidFill>
            <a:srgbClr val="F7F8FA"/>
          </a:solidFill>
          <a:ln w="25400">
            <a:solidFill>
              <a:srgbClr val="0B5A8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130552" y="21945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2176272" y="274320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2221992" y="338328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brand, category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547872" y="3291840"/>
            <a:ext cx="210312" cy="0"/>
          </a:xfrm>
          <a:prstGeom prst="line">
            <a:avLst/>
          </a:prstGeom>
          <a:noFill/>
          <a:ln w="22225">
            <a:solidFill>
              <a:srgbClr val="20265A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3758184" y="2103120"/>
            <a:ext cx="1417320" cy="2377440"/>
          </a:xfrm>
          <a:prstGeom prst="roundRect">
            <a:avLst>
              <a:gd name="adj" fmla="val 5161"/>
            </a:avLst>
          </a:prstGeom>
          <a:solidFill>
            <a:srgbClr val="F7F8FA"/>
          </a:solidFill>
          <a:ln w="25400">
            <a:solidFill>
              <a:srgbClr val="1B729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758184" y="21945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72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3803904" y="274320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Expiry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3849624" y="338328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Printed date, else manual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175504" y="3291840"/>
            <a:ext cx="210312" cy="0"/>
          </a:xfrm>
          <a:prstGeom prst="line">
            <a:avLst/>
          </a:prstGeom>
          <a:noFill/>
          <a:ln w="22225">
            <a:solidFill>
              <a:srgbClr val="20265A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5385816" y="2103120"/>
            <a:ext cx="1417320" cy="2377440"/>
          </a:xfrm>
          <a:prstGeom prst="roundRect">
            <a:avLst>
              <a:gd name="adj" fmla="val 5161"/>
            </a:avLst>
          </a:prstGeom>
          <a:solidFill>
            <a:srgbClr val="F7F8FA"/>
          </a:solidFill>
          <a:ln w="25400">
            <a:solidFill>
              <a:srgbClr val="0F766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385816" y="21945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5431536" y="274320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477256" y="338328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confirms → Room DB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803136" y="3291840"/>
            <a:ext cx="210312" cy="0"/>
          </a:xfrm>
          <a:prstGeom prst="line">
            <a:avLst/>
          </a:prstGeom>
          <a:noFill/>
          <a:ln w="22225">
            <a:solidFill>
              <a:srgbClr val="20265A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7013448" y="2103120"/>
            <a:ext cx="1417320" cy="2377440"/>
          </a:xfrm>
          <a:prstGeom prst="roundRect">
            <a:avLst>
              <a:gd name="adj" fmla="val 5161"/>
            </a:avLst>
          </a:prstGeom>
          <a:solidFill>
            <a:srgbClr val="F7F8FA"/>
          </a:solidFill>
          <a:ln w="25400">
            <a:solidFill>
              <a:srgbClr val="B45309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013448" y="21945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4"/>
          <p:cNvSpPr txBox="1"/>
          <p:nvPr/>
        </p:nvSpPr>
        <p:spPr>
          <a:xfrm>
            <a:off x="7059168" y="274320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7104888" y="338328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 / 1 / 0 days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8430768" y="3291840"/>
            <a:ext cx="210312" cy="0"/>
          </a:xfrm>
          <a:prstGeom prst="line">
            <a:avLst/>
          </a:prstGeom>
          <a:noFill/>
          <a:ln w="22225">
            <a:solidFill>
              <a:srgbClr val="20265A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8641080" y="2103120"/>
            <a:ext cx="1417320" cy="2377440"/>
          </a:xfrm>
          <a:prstGeom prst="roundRect">
            <a:avLst>
              <a:gd name="adj" fmla="val 5161"/>
            </a:avLst>
          </a:prstGeom>
          <a:solidFill>
            <a:srgbClr val="F7F8FA"/>
          </a:solidFill>
          <a:ln w="25400">
            <a:solidFill>
              <a:srgbClr val="E58A0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21945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5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2" name="Text 29"/>
          <p:cNvSpPr txBox="1"/>
          <p:nvPr/>
        </p:nvSpPr>
        <p:spPr>
          <a:xfrm>
            <a:off x="8686800" y="274320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8732520" y="338328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recipe + Cook Mode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10058400" y="3291840"/>
            <a:ext cx="210312" cy="0"/>
          </a:xfrm>
          <a:prstGeom prst="line">
            <a:avLst/>
          </a:prstGeom>
          <a:noFill/>
          <a:ln w="22225">
            <a:solidFill>
              <a:srgbClr val="20265A"/>
            </a:solidFill>
            <a:prstDash val="solid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10268712" y="2103120"/>
            <a:ext cx="1417320" cy="2377440"/>
          </a:xfrm>
          <a:prstGeom prst="roundRect">
            <a:avLst>
              <a:gd name="adj" fmla="val 5161"/>
            </a:avLst>
          </a:prstGeom>
          <a:solidFill>
            <a:srgbClr val="F7F8FA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0268712" y="21945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00" dirty="0"/>
          </a:p>
        </p:txBody>
      </p:sp>
      <p:sp>
        <p:nvSpPr>
          <p:cNvPr id="37" name="Text 34"/>
          <p:cNvSpPr txBox="1"/>
          <p:nvPr/>
        </p:nvSpPr>
        <p:spPr>
          <a:xfrm>
            <a:off x="10314432" y="274320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Waste</a:t>
            </a:r>
            <a:endParaRPr lang="en-US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10360152" y="338328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updated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822960" y="4937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Repeats for every product entering the home   ·   Phone-OTP login gates the whole flow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3848" y="128016"/>
            <a:ext cx="1984248" cy="1453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41832" y="4572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2651760" y="63825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DEVELOPMENT – PROJECT REVIEW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731520" y="1783080"/>
            <a:ext cx="3383280" cy="3840480"/>
          </a:xfrm>
          <a:prstGeom prst="roundRect">
            <a:avLst>
              <a:gd name="adj" fmla="val 2162"/>
            </a:avLst>
          </a:prstGeom>
          <a:solidFill>
            <a:srgbClr val="F7F8FA"/>
          </a:solidFill>
          <a:ln w="25400">
            <a:solidFill>
              <a:srgbClr val="0B5A8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783080"/>
            <a:ext cx="3383280" cy="548640"/>
          </a:xfrm>
          <a:prstGeom prst="roundRect">
            <a:avLst>
              <a:gd name="adj" fmla="val 13333"/>
            </a:avLst>
          </a:prstGeom>
          <a:solidFill>
            <a:srgbClr val="0B5A82"/>
          </a:solidFill>
          <a:ln w="9525">
            <a:solidFill>
              <a:srgbClr val="0B5A8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7830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LAYER (DEVICE)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914400" y="2468880"/>
            <a:ext cx="3017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05840" y="246888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App (UI): Home · Scan · Pantry · Recipes · Analytics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914400" y="3227832"/>
            <a:ext cx="3017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05840" y="3227832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Kit: on-device barcode / text scan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914400" y="3986784"/>
            <a:ext cx="3017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05840" y="3986784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Database: local pantry store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914400" y="4745736"/>
            <a:ext cx="3017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05840" y="4745736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WorkManager: expiry reminder scheduler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114800" y="3703320"/>
            <a:ext cx="365760" cy="0"/>
          </a:xfrm>
          <a:prstGeom prst="line">
            <a:avLst/>
          </a:prstGeom>
          <a:noFill/>
          <a:ln w="22225">
            <a:solidFill>
              <a:srgbClr val="20265A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4480560" y="1783080"/>
            <a:ext cx="3383280" cy="3840480"/>
          </a:xfrm>
          <a:prstGeom prst="roundRect">
            <a:avLst>
              <a:gd name="adj" fmla="val 2162"/>
            </a:avLst>
          </a:prstGeom>
          <a:solidFill>
            <a:srgbClr val="F7F8FA"/>
          </a:solidFill>
          <a:ln w="25400">
            <a:solidFill>
              <a:srgbClr val="20265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480560" y="1783080"/>
            <a:ext cx="3383280" cy="548640"/>
          </a:xfrm>
          <a:prstGeom prst="roundRect">
            <a:avLst>
              <a:gd name="adj" fmla="val 13333"/>
            </a:avLst>
          </a:prstGeom>
          <a:solidFill>
            <a:srgbClr val="20265A"/>
          </a:solidFill>
          <a:ln w="9525">
            <a:solidFill>
              <a:srgbClr val="20265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480560" y="17830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MIDDLE LAYER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663440" y="2468880"/>
            <a:ext cx="3017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754880" y="246888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Backend / API: keeps API keys off the APK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663440" y="3227832"/>
            <a:ext cx="3017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754880" y="3227832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Phone Auth: OTP via SMS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4663440" y="3986784"/>
            <a:ext cx="3017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754880" y="3986784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Cloud Messaging: push notifications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7863840" y="3703320"/>
            <a:ext cx="365760" cy="0"/>
          </a:xfrm>
          <a:prstGeom prst="line">
            <a:avLst/>
          </a:prstGeom>
          <a:noFill/>
          <a:ln w="22225">
            <a:solidFill>
              <a:srgbClr val="20265A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8229600" y="1783080"/>
            <a:ext cx="3383280" cy="3840480"/>
          </a:xfrm>
          <a:prstGeom prst="roundRect">
            <a:avLst>
              <a:gd name="adj" fmla="val 2162"/>
            </a:avLst>
          </a:prstGeom>
          <a:solidFill>
            <a:srgbClr val="F7F8FA"/>
          </a:solidFill>
          <a:ln w="25400">
            <a:solidFill>
              <a:srgbClr val="1B7295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229600" y="1783080"/>
            <a:ext cx="3383280" cy="548640"/>
          </a:xfrm>
          <a:prstGeom prst="roundRect">
            <a:avLst>
              <a:gd name="adj" fmla="val 13333"/>
            </a:avLst>
          </a:prstGeom>
          <a:solidFill>
            <a:srgbClr val="1B7295"/>
          </a:solidFill>
          <a:ln w="9525">
            <a:solidFill>
              <a:srgbClr val="1B7295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229600" y="17830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EXTERNAL SERVICES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8412480" y="2468880"/>
            <a:ext cx="3017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503920" y="246888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Recipe Generation: LLM-based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8412480" y="3227832"/>
            <a:ext cx="3017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503920" y="3227832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 Info Provider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8412480" y="3986784"/>
            <a:ext cx="3017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503920" y="3986784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Identification: OCR + product lookup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8412480" y="4745736"/>
            <a:ext cx="3017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503920" y="4745736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Assistant Engine: speech-to-text / intent</a:t>
            </a:r>
            <a:endParaRPr lang="en-US" sz="1150" dirty="0"/>
          </a:p>
        </p:txBody>
      </p:sp>
      <p:sp>
        <p:nvSpPr>
          <p:cNvPr id="38" name="Text 35"/>
          <p:cNvSpPr txBox="1"/>
          <p:nvPr/>
        </p:nvSpPr>
        <p:spPr>
          <a:xfrm>
            <a:off x="731520" y="576072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Pantry data stays local (offline-first); only AI / nutrition requests go through the backend over HTTPS.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3848" y="128016"/>
            <a:ext cx="1984248" cy="1453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41832" y="4572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– Modules &amp; Logic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2651760" y="63825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DEVELOPMENT – PROJECT REVIEW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822960" y="1783080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F7F8FA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1783080"/>
            <a:ext cx="5257800" cy="91440"/>
          </a:xfrm>
          <a:prstGeom prst="roundRect">
            <a:avLst>
              <a:gd name="adj" fmla="val 80000"/>
            </a:avLst>
          </a:prstGeom>
          <a:solidFill>
            <a:srgbClr val="20265A"/>
          </a:solidFill>
          <a:ln w="9525">
            <a:solidFill>
              <a:srgbClr val="20265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51560" y="198424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0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MVVM modules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246888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scan, pantry, recipes, cook mode and analytics, wired together through the ViewModel layer; each module exposes only what the next one needs.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72200" y="1783080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F7F8FA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172200" y="1783080"/>
            <a:ext cx="5257800" cy="91440"/>
          </a:xfrm>
          <a:prstGeom prst="roundRect">
            <a:avLst>
              <a:gd name="adj" fmla="val 80000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0" y="198424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DAO + Flow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6400800" y="246888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Pantry module exposes expiring items as a Flow sorted by days remaining; one shared expiry utility keeps every screen consistent.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22960" y="4023360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F7F8FA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22960" y="4023360"/>
            <a:ext cx="5257800" cy="91440"/>
          </a:xfrm>
          <a:prstGeom prst="roundRect">
            <a:avLst>
              <a:gd name="adj" fmla="val 80000"/>
            </a:avLst>
          </a:prstGeom>
          <a:solidFill>
            <a:srgbClr val="1B7295"/>
          </a:solidFill>
          <a:ln w="9525">
            <a:solidFill>
              <a:srgbClr val="1B729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51560" y="422452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72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→ confirm → save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1051560" y="470916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are written to the Room database only after the user has reviewed and approved the detected fields.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172200" y="4023360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F7F8FA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172200" y="4023360"/>
            <a:ext cx="5257800" cy="91440"/>
          </a:xfrm>
          <a:prstGeom prst="roundRect">
            <a:avLst>
              <a:gd name="adj" fmla="val 80000"/>
            </a:avLst>
          </a:prstGeom>
          <a:solidFill>
            <a:srgbClr val="B45309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00800" y="422452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WorkManager + FCM, Retrofit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6400800" y="470916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WorkManager checks expiry dates and FCM sends reminders naming the item; Retrofit calls the secure AI backend; Firebase handles OTP login.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3848" y="128016"/>
            <a:ext cx="1984248" cy="1453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41832" y="4572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2651760" y="63825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DEVELOPMENT – PROJECT REVIEW</a:t>
            </a:r>
            <a:endParaRPr lang="en-US" sz="1400" dirty="0"/>
          </a:p>
        </p:txBody>
      </p:sp>
      <p:pic>
        <p:nvPicPr>
          <p:cNvPr id="5" name="Image 1" descr="shots/d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798" y="1691640"/>
            <a:ext cx="6432885" cy="452628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001000" y="1783080"/>
            <a:ext cx="3703320" cy="82296"/>
          </a:xfrm>
          <a:prstGeom prst="roundRect">
            <a:avLst>
              <a:gd name="adj" fmla="val 88889"/>
            </a:avLst>
          </a:prstGeom>
          <a:solidFill>
            <a:srgbClr val="1B7295"/>
          </a:solidFill>
          <a:ln w="9525">
            <a:solidFill>
              <a:srgbClr val="1B7295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001000" y="194767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72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user can do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8001000" y="2331720"/>
            <a:ext cx="3703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via Phone OTP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food product; confirm / edit detected details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pantry; set expiry reminders; view expiring items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AI recipe suggestions; use voice assistant; follow Cook Mode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“I Cooked This!”; view food-waste analytics; choose personality mode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3848" y="128016"/>
            <a:ext cx="1984248" cy="1453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41832" y="4572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Flowchart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2651760" y="63825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DEVELOPMENT – PROJECT REVIEW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822960" y="1737360"/>
            <a:ext cx="2858945" cy="4709160"/>
          </a:xfrm>
          <a:prstGeom prst="roundRect">
            <a:avLst>
              <a:gd name="adj" fmla="val 2559"/>
            </a:avLst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</p:spPr>
      </p:sp>
      <p:pic>
        <p:nvPicPr>
          <p:cNvPr id="6" name="Image 1" descr="shots/d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1828800"/>
            <a:ext cx="2401745" cy="45262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206240" y="1783080"/>
            <a:ext cx="3657600" cy="82296"/>
          </a:xfrm>
          <a:prstGeom prst="roundRect">
            <a:avLst>
              <a:gd name="adj" fmla="val 88889"/>
            </a:avLst>
          </a:prstGeom>
          <a:solidFill>
            <a:srgbClr val="0B5A82"/>
          </a:solidFill>
          <a:ln w="9525">
            <a:solidFill>
              <a:srgbClr val="0B5A8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4206240" y="19476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flow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4206240" y="233172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→ open app and verify phone OTP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dashboard → scan food product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/ edit details → save to pantry (Room DB)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countdown and reminders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8138160" y="1783080"/>
            <a:ext cx="3566160" cy="82296"/>
          </a:xfrm>
          <a:prstGeom prst="roundRect">
            <a:avLst>
              <a:gd name="adj" fmla="val 88889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138160" y="194767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the loop closes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8138160" y="233172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recipe suggestions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 Mode step by step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Cooked This!” updates the pantry and analytics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3848" y="128016"/>
            <a:ext cx="1984248" cy="1453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41832" y="4572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Diagram – Scan to Reminder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2651760" y="63825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DEVELOPMENT – PROJECT REVIEW</a:t>
            </a:r>
            <a:endParaRPr lang="en-US" sz="1400" dirty="0"/>
          </a:p>
        </p:txBody>
      </p:sp>
      <p:pic>
        <p:nvPicPr>
          <p:cNvPr id="5" name="Image 1" descr="shots/d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842" y="1691640"/>
            <a:ext cx="6767675" cy="452628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321040" y="1783080"/>
            <a:ext cx="3383280" cy="82296"/>
          </a:xfrm>
          <a:prstGeom prst="roundRect">
            <a:avLst>
              <a:gd name="adj" fmla="val 88889"/>
            </a:avLst>
          </a:prstGeom>
          <a:solidFill>
            <a:srgbClr val="1B7295"/>
          </a:solidFill>
          <a:ln w="9525">
            <a:solidFill>
              <a:srgbClr val="1B7295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321040" y="19476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72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8321040" y="233172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User, Scan UI, ML Kit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Pantry ViewModel, Room DB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WorkManager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8321040" y="393192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scans, ML Kit returns the detected fields, the user confirms, the ViewModel saves to Room and WorkManager schedules the reminders for that item.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3848" y="128016"/>
            <a:ext cx="1984248" cy="1453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41832" y="4572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– ER Diagram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2651760" y="63825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DEVELOPMENT – PROJECT REVIEW</a:t>
            </a:r>
            <a:endParaRPr lang="en-US" sz="1400" dirty="0"/>
          </a:p>
        </p:txBody>
      </p:sp>
      <p:pic>
        <p:nvPicPr>
          <p:cNvPr id="5" name="Image 1" descr="shots/d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131" y="1737360"/>
            <a:ext cx="7229098" cy="42062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229600" y="1783080"/>
            <a:ext cx="3474720" cy="82296"/>
          </a:xfrm>
          <a:prstGeom prst="roundRect">
            <a:avLst>
              <a:gd name="adj" fmla="val 88889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0" y="19476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entities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8229600" y="233172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– phone, personality mode, reminder lead times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PANTRY_ITEM – product details, expiry date, status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COOK_LOG – recipe, cooked date, waste saved (g)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RECIPE_CACHE – cached AI recipe and nutrition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3848" y="128016"/>
            <a:ext cx="1984248" cy="1453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41832" y="4572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App – Prototype Screens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2651760" y="63825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DEVELOPMENT – PROJECT REVIEW</a:t>
            </a:r>
            <a:endParaRPr lang="en-US" sz="1400" dirty="0"/>
          </a:p>
        </p:txBody>
      </p:sp>
      <p:pic>
        <p:nvPicPr>
          <p:cNvPr id="5" name="Image 1" descr="shots/a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011680"/>
            <a:ext cx="1325880" cy="274646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80386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Login</a:t>
            </a:r>
            <a:endParaRPr lang="en-US" sz="1200" dirty="0"/>
          </a:p>
        </p:txBody>
      </p:sp>
      <p:pic>
        <p:nvPicPr>
          <p:cNvPr id="7" name="Image 2" descr="shots/a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4520" y="2011680"/>
            <a:ext cx="1325880" cy="2746466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874520" y="480386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200" dirty="0"/>
          </a:p>
        </p:txBody>
      </p:sp>
      <p:pic>
        <p:nvPicPr>
          <p:cNvPr id="9" name="Image 3" descr="shots/a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2011680"/>
            <a:ext cx="1325880" cy="2746466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3291840" y="480386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200" dirty="0"/>
          </a:p>
        </p:txBody>
      </p:sp>
      <p:pic>
        <p:nvPicPr>
          <p:cNvPr id="11" name="Image 4" descr="shots/b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9160" y="2011680"/>
            <a:ext cx="1325880" cy="2746466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4709160" y="480386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Pantry</a:t>
            </a:r>
            <a:endParaRPr lang="en-US" sz="1200" dirty="0"/>
          </a:p>
        </p:txBody>
      </p:sp>
      <p:pic>
        <p:nvPicPr>
          <p:cNvPr id="13" name="Image 5" descr="shots/b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2011680"/>
            <a:ext cx="1325880" cy="2746466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6126480" y="480386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</a:t>
            </a:r>
            <a:endParaRPr lang="en-US" sz="1200" dirty="0"/>
          </a:p>
        </p:txBody>
      </p:sp>
      <p:pic>
        <p:nvPicPr>
          <p:cNvPr id="15" name="Image 6" descr="shots/b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43800" y="2011680"/>
            <a:ext cx="1325880" cy="2746466"/>
          </a:xfrm>
          <a:prstGeom prst="rect">
            <a:avLst/>
          </a:prstGeom>
        </p:spPr>
      </p:pic>
      <p:sp>
        <p:nvSpPr>
          <p:cNvPr id="16" name="Text 7"/>
          <p:cNvSpPr txBox="1"/>
          <p:nvPr/>
        </p:nvSpPr>
        <p:spPr>
          <a:xfrm>
            <a:off x="7543800" y="480386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 Mode</a:t>
            </a:r>
            <a:endParaRPr lang="en-US" sz="1200" dirty="0"/>
          </a:p>
        </p:txBody>
      </p:sp>
      <p:pic>
        <p:nvPicPr>
          <p:cNvPr id="17" name="Image 7" descr="shots/b3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61120" y="2011680"/>
            <a:ext cx="1325880" cy="2746466"/>
          </a:xfrm>
          <a:prstGeom prst="rect">
            <a:avLst/>
          </a:prstGeom>
        </p:spPr>
      </p:pic>
      <p:sp>
        <p:nvSpPr>
          <p:cNvPr id="18" name="Text 8"/>
          <p:cNvSpPr txBox="1"/>
          <p:nvPr/>
        </p:nvSpPr>
        <p:spPr>
          <a:xfrm>
            <a:off x="8961120" y="480386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200" dirty="0"/>
          </a:p>
        </p:txBody>
      </p:sp>
      <p:pic>
        <p:nvPicPr>
          <p:cNvPr id="19" name="Image 8" descr="shots/c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78440" y="2011680"/>
            <a:ext cx="1325880" cy="2746466"/>
          </a:xfrm>
          <a:prstGeom prst="rect">
            <a:avLst/>
          </a:prstGeom>
        </p:spPr>
      </p:pic>
      <p:sp>
        <p:nvSpPr>
          <p:cNvPr id="20" name="Text 9"/>
          <p:cNvSpPr txBox="1"/>
          <p:nvPr/>
        </p:nvSpPr>
        <p:spPr>
          <a:xfrm>
            <a:off x="10378440" y="480386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Cooked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3848" y="128016"/>
            <a:ext cx="1984248" cy="1453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41832" y="4572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Screen 1 – OTP Login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2651760" y="63825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DEVELOPMENT – PROJECT REVIEW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822960" y="1737360"/>
            <a:ext cx="2531942" cy="4800600"/>
          </a:xfrm>
          <a:prstGeom prst="roundRect">
            <a:avLst>
              <a:gd name="adj" fmla="val 2889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pic>
        <p:nvPicPr>
          <p:cNvPr id="6" name="Image 1" descr="shots/a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1874520"/>
            <a:ext cx="2074742" cy="42976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22960" y="6199632"/>
            <a:ext cx="25319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Phone-OTP login screen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4114800" y="1783080"/>
            <a:ext cx="3611880" cy="82296"/>
          </a:xfrm>
          <a:prstGeom prst="roundRect">
            <a:avLst>
              <a:gd name="adj" fmla="val 88889"/>
            </a:avLst>
          </a:prstGeom>
          <a:solidFill>
            <a:srgbClr val="1B7295"/>
          </a:solidFill>
          <a:ln w="9525">
            <a:solidFill>
              <a:srgbClr val="1B7295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114800" y="194767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72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by SMS OTP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4114800" y="2331720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phone number, tap Send OTP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sends a real OTP SMS to that exact number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OTP; “Change Number | Resend OTP” links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8092440" y="1783080"/>
            <a:ext cx="3611880" cy="82296"/>
          </a:xfrm>
          <a:prstGeom prst="roundRect">
            <a:avLst>
              <a:gd name="adj" fmla="val 88889"/>
            </a:avLst>
          </a:prstGeom>
          <a:solidFill>
            <a:srgbClr val="B45309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092440" y="194767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bug fixed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8092440" y="2331720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stale cached number was being reused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typed number is now the single source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normalised to E.164 (+91…)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114800" y="4800600"/>
            <a:ext cx="7589520" cy="1188720"/>
          </a:xfrm>
          <a:prstGeom prst="roundRect">
            <a:avLst>
              <a:gd name="adj" fmla="val 6154"/>
            </a:avLst>
          </a:prstGeom>
          <a:solidFill>
            <a:srgbClr val="F7F8FA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297680" y="4846320"/>
            <a:ext cx="7223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pantry screen, scan action or recipe request is reachable until Firebase Phone Authentication has verified the session.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3848" y="128016"/>
            <a:ext cx="1984248" cy="1453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41832" y="4572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Screen 2 – Home Dashboard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2651760" y="63825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DEVELOPMENT – PROJECT REVIEW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822960" y="1737360"/>
            <a:ext cx="2531942" cy="4800600"/>
          </a:xfrm>
          <a:prstGeom prst="roundRect">
            <a:avLst>
              <a:gd name="adj" fmla="val 2889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pic>
        <p:nvPicPr>
          <p:cNvPr id="6" name="Image 1" descr="shots/a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1874520"/>
            <a:ext cx="2074742" cy="42976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22960" y="6199632"/>
            <a:ext cx="25319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dashboard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4114800" y="1783080"/>
            <a:ext cx="3611880" cy="82296"/>
          </a:xfrm>
          <a:prstGeom prst="roundRect">
            <a:avLst>
              <a:gd name="adj" fmla="val 88889"/>
            </a:avLst>
          </a:prstGeom>
          <a:solidFill>
            <a:srgbClr val="0B5A82"/>
          </a:solidFill>
          <a:ln w="9525">
            <a:solidFill>
              <a:srgbClr val="0B5A8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114800" y="194767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At-a-glance summary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4114800" y="2331720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Pantry Summary card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/ Soon / Fresh counters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Scan and Recipes buttons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8092440" y="1783080"/>
            <a:ext cx="3611880" cy="82296"/>
          </a:xfrm>
          <a:prstGeom prst="roundRect">
            <a:avLst>
              <a:gd name="adj" fmla="val 88889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092440" y="194767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Expiring Soon list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8092440" y="2331720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Colour-coded days-left badges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navigation: Home, Scan, Pantry, Recipes, Analytics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Personality greeting in the header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114800" y="4800600"/>
            <a:ext cx="7589520" cy="1188720"/>
          </a:xfrm>
          <a:prstGeom prst="roundRect">
            <a:avLst>
              <a:gd name="adj" fmla="val 6154"/>
            </a:avLst>
          </a:prstGeom>
          <a:solidFill>
            <a:srgbClr val="F7F8FA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297680" y="4846320"/>
            <a:ext cx="7223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Room data feeds the dashboard, the Recipes module and the reminder scheduler, so every screen shows the same countdown.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3848" y="128016"/>
            <a:ext cx="1984248" cy="1453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41832" y="4572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Screen 3 – Scan Product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2651760" y="63825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DEVELOPMENT – PROJECT REVIEW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822960" y="1737360"/>
            <a:ext cx="2531942" cy="4800600"/>
          </a:xfrm>
          <a:prstGeom prst="roundRect">
            <a:avLst>
              <a:gd name="adj" fmla="val 2889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pic>
        <p:nvPicPr>
          <p:cNvPr id="6" name="Image 1" descr="shots/a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1874520"/>
            <a:ext cx="2074742" cy="42976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22960" y="6199632"/>
            <a:ext cx="25319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screen with detected details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4114800" y="1783080"/>
            <a:ext cx="3611880" cy="82296"/>
          </a:xfrm>
          <a:prstGeom prst="roundRect">
            <a:avLst>
              <a:gd name="adj" fmla="val 88889"/>
            </a:avLst>
          </a:prstGeom>
          <a:solidFill>
            <a:srgbClr val="1B7295"/>
          </a:solidFill>
          <a:ln w="9525">
            <a:solidFill>
              <a:srgbClr val="1B7295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114800" y="194767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72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scanning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4114800" y="2331720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frame reads barcode / label with ML Kit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card shows product, category, quantity and printed EXP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8092440" y="1783080"/>
            <a:ext cx="3611880" cy="82296"/>
          </a:xfrm>
          <a:prstGeom prst="roundRect">
            <a:avLst>
              <a:gd name="adj" fmla="val 88889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092440" y="194767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stays in control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8092440" y="2331720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the detected details or Save to Pantry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Unreadable date → manual-entry prompt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invented expiry date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114800" y="4800600"/>
            <a:ext cx="7589520" cy="1188720"/>
          </a:xfrm>
          <a:prstGeom prst="roundRect">
            <a:avLst>
              <a:gd name="adj" fmla="val 6154"/>
            </a:avLst>
          </a:prstGeom>
          <a:solidFill>
            <a:srgbClr val="F7F8FA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297680" y="4846320"/>
            <a:ext cx="7223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are saved to the Room database only after the user confirms the detected fields.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3848" y="128016"/>
            <a:ext cx="1984248" cy="1453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41832" y="4572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Screen 4 – My Pantry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2651760" y="63825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DEVELOPMENT – PROJECT REVIEW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822960" y="1737360"/>
            <a:ext cx="2531942" cy="4800600"/>
          </a:xfrm>
          <a:prstGeom prst="roundRect">
            <a:avLst>
              <a:gd name="adj" fmla="val 2889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pic>
        <p:nvPicPr>
          <p:cNvPr id="6" name="Image 1" descr="shots/b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1874520"/>
            <a:ext cx="2074742" cy="42976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22960" y="6199632"/>
            <a:ext cx="25319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Pantry list with filters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4114800" y="1783080"/>
            <a:ext cx="3611880" cy="82296"/>
          </a:xfrm>
          <a:prstGeom prst="roundRect">
            <a:avLst>
              <a:gd name="adj" fmla="val 88889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114800" y="194767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Pantry list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4114800" y="2331720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pantry items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Filters: All / Today / Soon / Fresh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colour-coded countdown per item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8092440" y="1783080"/>
            <a:ext cx="3611880" cy="82296"/>
          </a:xfrm>
          <a:prstGeom prst="roundRect">
            <a:avLst>
              <a:gd name="adj" fmla="val 88889"/>
            </a:avLst>
          </a:prstGeom>
          <a:solidFill>
            <a:srgbClr val="1B7295"/>
          </a:solidFill>
          <a:ln w="9525">
            <a:solidFill>
              <a:srgbClr val="1B7295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092440" y="194767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72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items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8092440" y="2331720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Add for manual entry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Countdown recalculated from the current date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 from the Room database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114800" y="4800600"/>
            <a:ext cx="7589520" cy="1188720"/>
          </a:xfrm>
          <a:prstGeom prst="roundRect">
            <a:avLst>
              <a:gd name="adj" fmla="val 6154"/>
            </a:avLst>
          </a:prstGeom>
          <a:solidFill>
            <a:srgbClr val="F7F8FA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297680" y="4846320"/>
            <a:ext cx="7223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are Room DAO queries, so “Expiring Today”, “Expiring Soon” and “Fresh” always return exactly the matching items as the date changes.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3848" y="128016"/>
            <a:ext cx="1984248" cy="1453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41832" y="4572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Screen 5 – Recipe Details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2651760" y="63825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DEVELOPMENT – PROJECT REVIEW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822960" y="1737360"/>
            <a:ext cx="2531942" cy="4800600"/>
          </a:xfrm>
          <a:prstGeom prst="roundRect">
            <a:avLst>
              <a:gd name="adj" fmla="val 2889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pic>
        <p:nvPicPr>
          <p:cNvPr id="6" name="Image 1" descr="shots/b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1874520"/>
            <a:ext cx="2074742" cy="42976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22960" y="6199632"/>
            <a:ext cx="25319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Expiry-aware AI recipe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4114800" y="1783080"/>
            <a:ext cx="3611880" cy="82296"/>
          </a:xfrm>
          <a:prstGeom prst="roundRect">
            <a:avLst>
              <a:gd name="adj" fmla="val 88889"/>
            </a:avLst>
          </a:prstGeom>
          <a:solidFill>
            <a:srgbClr val="B45309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114800" y="194767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Expiry-aware recipes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4114800" y="2331720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Dishes use the ingredients closest to expiry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“Use your paneer before it expires” prompt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Time, difficulty and servings shown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8092440" y="1783080"/>
            <a:ext cx="3611880" cy="82296"/>
          </a:xfrm>
          <a:prstGeom prst="roundRect">
            <a:avLst>
              <a:gd name="adj" fmla="val 88889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092440" y="194767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 from the pantry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8092440" y="2331720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Ingredients and steps on one screen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Cook Mode starts the walkthrough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Cooked This! closes the loop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114800" y="4800600"/>
            <a:ext cx="7589520" cy="1188720"/>
          </a:xfrm>
          <a:prstGeom prst="roundRect">
            <a:avLst>
              <a:gd name="adj" fmla="val 6154"/>
            </a:avLst>
          </a:prstGeom>
          <a:solidFill>
            <a:srgbClr val="F7F8FA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297680" y="4846320"/>
            <a:ext cx="7223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Recipes and nutrition info come from the AI backend through Retrofit; the suggestion list is biased by the Room expiry list.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3848" y="128016"/>
            <a:ext cx="1984248" cy="1453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41832" y="4572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Screen 6 – Cook Mode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2651760" y="63825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DEVELOPMENT – PROJECT REVIEW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822960" y="1737360"/>
            <a:ext cx="2531942" cy="4800600"/>
          </a:xfrm>
          <a:prstGeom prst="roundRect">
            <a:avLst>
              <a:gd name="adj" fmla="val 2889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pic>
        <p:nvPicPr>
          <p:cNvPr id="6" name="Image 1" descr="shots/b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1874520"/>
            <a:ext cx="2074742" cy="42976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22960" y="6199632"/>
            <a:ext cx="25319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Cook Mode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4114800" y="1783080"/>
            <a:ext cx="3611880" cy="82296"/>
          </a:xfrm>
          <a:prstGeom prst="roundRect">
            <a:avLst>
              <a:gd name="adj" fmla="val 88889"/>
            </a:avLst>
          </a:prstGeom>
          <a:solidFill>
            <a:srgbClr val="20265A"/>
          </a:solidFill>
          <a:ln w="9525">
            <a:solidFill>
              <a:srgbClr val="20265A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114800" y="194767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0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cooking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4114800" y="2331720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step at a time (Step 2 of 4)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/ Next controls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Countdown timer for the step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8092440" y="1783080"/>
            <a:ext cx="3611880" cy="82296"/>
          </a:xfrm>
          <a:prstGeom prst="roundRect">
            <a:avLst>
              <a:gd name="adj" fmla="val 88889"/>
            </a:avLst>
          </a:prstGeom>
          <a:solidFill>
            <a:srgbClr val="1B7295"/>
          </a:solidFill>
          <a:ln w="9525">
            <a:solidFill>
              <a:srgbClr val="1B7295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092440" y="194767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72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8092440" y="2331720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cook on the recipe, not the phone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Finishing the recipe leads to “I Cooked This!”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114800" y="4800600"/>
            <a:ext cx="7589520" cy="1188720"/>
          </a:xfrm>
          <a:prstGeom prst="roundRect">
            <a:avLst>
              <a:gd name="adj" fmla="val 6154"/>
            </a:avLst>
          </a:prstGeom>
          <a:solidFill>
            <a:srgbClr val="F7F8FA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297680" y="4846320"/>
            <a:ext cx="7223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 Mode turns a recipe suggestion into an action, which is the step that actually prevents waste.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3848" y="128016"/>
            <a:ext cx="1984248" cy="1453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41832" y="4572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Screen 7 – Food-Waste Analytics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2651760" y="63825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DEVELOPMENT – PROJECT REVIEW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822960" y="1737360"/>
            <a:ext cx="2531942" cy="4800600"/>
          </a:xfrm>
          <a:prstGeom prst="roundRect">
            <a:avLst>
              <a:gd name="adj" fmla="val 2889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pic>
        <p:nvPicPr>
          <p:cNvPr id="6" name="Image 1" descr="shots/b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1874520"/>
            <a:ext cx="2074742" cy="42976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22960" y="6199632"/>
            <a:ext cx="25319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4114800" y="1783080"/>
            <a:ext cx="3611880" cy="82296"/>
          </a:xfrm>
          <a:prstGeom prst="roundRect">
            <a:avLst>
              <a:gd name="adj" fmla="val 88889"/>
            </a:avLst>
          </a:prstGeom>
          <a:solidFill>
            <a:srgbClr val="1B7295"/>
          </a:solidFill>
          <a:ln w="9525">
            <a:solidFill>
              <a:srgbClr val="1B7295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114800" y="194767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72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counters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4114800" y="2331720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Saved, Expired and Cooked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 chart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categories used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8092440" y="1783080"/>
            <a:ext cx="3611880" cy="82296"/>
          </a:xfrm>
          <a:prstGeom prst="roundRect">
            <a:avLst>
              <a:gd name="adj" fmla="val 88889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092440" y="194767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only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8092440" y="2331720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by “I Cooked This!” events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by “item expired” events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dummy numbers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114800" y="4800600"/>
            <a:ext cx="7589520" cy="1188720"/>
          </a:xfrm>
          <a:prstGeom prst="roundRect">
            <a:avLst>
              <a:gd name="adj" fmla="val 6154"/>
            </a:avLst>
          </a:prstGeom>
          <a:solidFill>
            <a:srgbClr val="F7F8FA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297680" y="4846320"/>
            <a:ext cx="7223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shows real cooked and expired events, so users can see their waste pattern change over time.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3848" y="128016"/>
            <a:ext cx="1984248" cy="1453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41832" y="4572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Screen 8 – “I Cooked This!” Output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2651760" y="63825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DEVELOPMENT – PROJECT REVIEW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822960" y="1737360"/>
            <a:ext cx="2531942" cy="4800600"/>
          </a:xfrm>
          <a:prstGeom prst="roundRect">
            <a:avLst>
              <a:gd name="adj" fmla="val 2889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pic>
        <p:nvPicPr>
          <p:cNvPr id="6" name="Image 1" descr="shots/c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1874520"/>
            <a:ext cx="2074742" cy="42976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22960" y="6199632"/>
            <a:ext cx="25319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cooked confirmation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4114800" y="1783080"/>
            <a:ext cx="3611880" cy="82296"/>
          </a:xfrm>
          <a:prstGeom prst="roundRect">
            <a:avLst>
              <a:gd name="adj" fmla="val 88889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114800" y="194767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updated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4114800" y="2331720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Paneer marked as used (−1 item)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Food-waste prevented (+200 g)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cooked this month 41 → 42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8092440" y="1783080"/>
            <a:ext cx="3611880" cy="82296"/>
          </a:xfrm>
          <a:prstGeom prst="roundRect">
            <a:avLst>
              <a:gd name="adj" fmla="val 88889"/>
            </a:avLst>
          </a:prstGeom>
          <a:solidFill>
            <a:srgbClr val="B45309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092440" y="194767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Personality modes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8092440" y="2331720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Friendly confirmation message in the chosen mode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Comedy Mode is suppressed for expired items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 safety warning is shown instead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114800" y="4800600"/>
            <a:ext cx="7589520" cy="1188720"/>
          </a:xfrm>
          <a:prstGeom prst="roundRect">
            <a:avLst>
              <a:gd name="adj" fmla="val 6154"/>
            </a:avLst>
          </a:prstGeom>
          <a:solidFill>
            <a:srgbClr val="F7F8FA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297680" y="4846320"/>
            <a:ext cx="7223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target item and the analytics counters change; other pantry items are left untouched.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3848" y="128016"/>
            <a:ext cx="1984248" cy="1453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41832" y="4572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– Push Notifications &amp; SMS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2651760" y="63825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DEVELOPMENT – PROJECT REVIEW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914400" y="178308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2E7D32"/>
          </a:solidFill>
          <a:ln w="9525">
            <a:solidFill>
              <a:srgbClr val="2E7D3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14400" y="17830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days before expiry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291840" y="2194560"/>
            <a:ext cx="365760" cy="0"/>
          </a:xfrm>
          <a:prstGeom prst="line">
            <a:avLst/>
          </a:prstGeom>
          <a:noFill/>
          <a:ln w="22225">
            <a:solidFill>
              <a:srgbClr val="20265A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3657600" y="178308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E58A00"/>
          </a:solidFill>
          <a:ln w="9525">
            <a:solidFill>
              <a:srgbClr val="E58A0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657600" y="17830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days before expiry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035040" y="2194560"/>
            <a:ext cx="365760" cy="0"/>
          </a:xfrm>
          <a:prstGeom prst="line">
            <a:avLst/>
          </a:prstGeom>
          <a:noFill/>
          <a:ln w="22225">
            <a:solidFill>
              <a:srgbClr val="20265A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6400800" y="178308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B45309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0" y="17830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day before expiry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778240" y="2194560"/>
            <a:ext cx="365760" cy="0"/>
          </a:xfrm>
          <a:prstGeom prst="line">
            <a:avLst/>
          </a:prstGeom>
          <a:noFill/>
          <a:ln w="22225">
            <a:solidFill>
              <a:srgbClr val="20265A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9144000" y="178308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C62828"/>
          </a:solidFill>
          <a:ln w="9525">
            <a:solidFill>
              <a:srgbClr val="C6282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144000" y="17830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day before expiry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22960" y="2971800"/>
            <a:ext cx="5303520" cy="82296"/>
          </a:xfrm>
          <a:prstGeom prst="roundRect">
            <a:avLst>
              <a:gd name="adj" fmla="val 88889"/>
            </a:avLst>
          </a:prstGeom>
          <a:solidFill>
            <a:srgbClr val="1B7295"/>
          </a:solidFill>
          <a:ln w="9525">
            <a:solidFill>
              <a:srgbClr val="1B729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2960" y="313639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72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(WorkManager + FCM)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" y="352044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WorkManager checks stored expiry dates against the configured lead times in the background, even if the app is not opened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Cloud Messaging delivers a notification naming the specific item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Tapping it opens the pantry item or an expiry-aware recipe for it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400800" y="2971800"/>
            <a:ext cx="5303520" cy="82296"/>
          </a:xfrm>
          <a:prstGeom prst="roundRect">
            <a:avLst>
              <a:gd name="adj" fmla="val 88889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00800" y="313639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(Firebase Phone Auth)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6400800" y="352044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OTP delivered by SMS to the number typed on the login screen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(+91) SMS region enabled in the Firebase project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 OTP / Change Number supported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822960" y="5440680"/>
            <a:ext cx="10881360" cy="640080"/>
          </a:xfrm>
          <a:prstGeom prst="roundRect">
            <a:avLst>
              <a:gd name="adj" fmla="val 11429"/>
            </a:avLst>
          </a:prstGeom>
          <a:solidFill>
            <a:srgbClr val="F7F8FA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005840" y="5440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are delivered only as push notifications and SMS — the app does not use email.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3848" y="128016"/>
            <a:ext cx="1984248" cy="1453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41832" y="4572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Status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2651760" y="63825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DEVELOPMENT – PROJECT REVIEW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713232" y="1737360"/>
            <a:ext cx="10789920" cy="502920"/>
          </a:xfrm>
          <a:prstGeom prst="roundRect">
            <a:avLst>
              <a:gd name="adj" fmla="val 14545"/>
            </a:avLst>
          </a:prstGeom>
          <a:solidFill>
            <a:srgbClr val="1B7295"/>
          </a:solidFill>
          <a:ln w="9525">
            <a:solidFill>
              <a:srgbClr val="1B729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" y="173736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Complete — all modules implemented and tested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957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&amp; requirement analysis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9692640" y="2395728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2E7D32"/>
          </a:solidFill>
          <a:ln w="9525">
            <a:solidFill>
              <a:srgbClr val="2E7D3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692640" y="23957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8163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database, DAO and shared expiry utility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9692640" y="2816352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2E7D32"/>
          </a:solidFill>
          <a:ln w="9525">
            <a:solidFill>
              <a:srgbClr val="2E7D3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692640" y="28163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323697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scanning (ML Kit) and manual entry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9692640" y="3236976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2E7D32"/>
          </a:solidFill>
          <a:ln w="9525">
            <a:solidFill>
              <a:srgbClr val="2E7D3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692640" y="32369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36576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Phone-OTP login with Firebase (SMS)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9692640" y="3657600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2E7D32"/>
          </a:solidFill>
          <a:ln w="9525">
            <a:solidFill>
              <a:srgbClr val="2E7D3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692640" y="36576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822960" y="407822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Reminders: WorkManager + FCM push notifications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9692640" y="4078224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2E7D32"/>
          </a:solidFill>
          <a:ln w="9525">
            <a:solidFill>
              <a:srgbClr val="2E7D3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692640" y="407822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" y="449884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recipes and nutrition info through the secure backend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9692640" y="4498848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2E7D32"/>
          </a:solidFill>
          <a:ln w="9525">
            <a:solidFill>
              <a:srgbClr val="2E7D3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692640" y="44988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822960" y="49194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 Mode, “I Cooked This!” and food-waste analytics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9692640" y="4919472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2E7D32"/>
          </a:solidFill>
          <a:ln w="9525">
            <a:solidFill>
              <a:srgbClr val="2E7D3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692640" y="49194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822960" y="534009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pantry assistant and personality modes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9692640" y="5340096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2E7D32"/>
          </a:solidFill>
          <a:ln w="9525">
            <a:solidFill>
              <a:srgbClr val="2E7D32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692640" y="534009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822960" y="57607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testing: 9 / 9 scenarios passed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9692640" y="5760720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2E7D32"/>
          </a:solidFill>
          <a:ln w="9525">
            <a:solidFill>
              <a:srgbClr val="2E7D3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692640" y="57607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3848" y="128016"/>
            <a:ext cx="1984248" cy="1453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41832" y="4572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– Nine Scenarios, Nine Passed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2651760" y="63825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DEVELOPMENT – PROJECT REVIEW</a:t>
            </a:r>
            <a:endParaRPr lang="en-US" sz="14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37360"/>
          <a:ext cx="10789920" cy="4206240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 item with printed EXP date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Stored date matches printed date exactly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 item with unreadable expiry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Manual-entry prompt, no invented date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Countdown after 1 day passes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'2 DAYS LEFT' becomes '1 DAY LEFT'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OTP requested for a different number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OTP delivered to the number just entered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'Change Number' then 'Resend OTP'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OTP goes to the newly entered number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'I Cooked This!' on an item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Pantry and analytics update; others unaffected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Comedy Mode on expired item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Comedy suppressed; safety warning shown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launched with no internet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Pantry viewable; AI features fail gracefully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Reminder at 3-day lead 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 names the specific item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3848" y="128016"/>
            <a:ext cx="1984248" cy="1453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41832" y="4572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Performance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2651760" y="63825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DEVELOPMENT – PROJECT REVIEW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822960" y="1783080"/>
            <a:ext cx="2926080" cy="1463040"/>
          </a:xfrm>
          <a:prstGeom prst="roundRect">
            <a:avLst>
              <a:gd name="adj" fmla="val 5000"/>
            </a:avLst>
          </a:prstGeom>
          <a:solidFill>
            <a:srgbClr val="2E7D32"/>
          </a:solidFill>
          <a:ln w="9525">
            <a:solidFill>
              <a:srgbClr val="2E7D3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8288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97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PASSED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023360" y="18288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app start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0" y="1874520"/>
            <a:ext cx="1399032" cy="320040"/>
          </a:xfrm>
          <a:prstGeom prst="roundRect">
            <a:avLst>
              <a:gd name="adj" fmla="val 22857"/>
            </a:avLst>
          </a:prstGeom>
          <a:solidFill>
            <a:srgbClr val="0B5A82"/>
          </a:solidFill>
          <a:ln w="9525">
            <a:solidFill>
              <a:srgbClr val="0B5A8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732520" y="1828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~1.8 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023360" y="23774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Scan-to-detection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0" y="2423160"/>
            <a:ext cx="777240" cy="320040"/>
          </a:xfrm>
          <a:prstGeom prst="roundRect">
            <a:avLst>
              <a:gd name="adj" fmla="val 22857"/>
            </a:avLst>
          </a:prstGeom>
          <a:solidFill>
            <a:srgbClr val="1B7295"/>
          </a:solidFill>
          <a:ln w="9525">
            <a:solidFill>
              <a:srgbClr val="1B729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63640" y="2423160"/>
            <a:ext cx="777240" cy="320040"/>
          </a:xfrm>
          <a:prstGeom prst="roundRect">
            <a:avLst>
              <a:gd name="adj" fmla="val 22857"/>
            </a:avLst>
          </a:prstGeom>
          <a:solidFill>
            <a:srgbClr val="8CC7DD"/>
          </a:solidFill>
          <a:ln w="9525">
            <a:solidFill>
              <a:srgbClr val="8CC7D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732520" y="2377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~1–2 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023360" y="29260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recipe latency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0" y="2971800"/>
            <a:ext cx="1554480" cy="320040"/>
          </a:xfrm>
          <a:prstGeom prst="roundRect">
            <a:avLst>
              <a:gd name="adj" fmla="val 22857"/>
            </a:avLst>
          </a:prstGeom>
          <a:solidFill>
            <a:srgbClr val="1B7295"/>
          </a:solidFill>
          <a:ln w="9525">
            <a:solidFill>
              <a:srgbClr val="1B729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040880" y="2971800"/>
            <a:ext cx="1554480" cy="320040"/>
          </a:xfrm>
          <a:prstGeom prst="roundRect">
            <a:avLst>
              <a:gd name="adj" fmla="val 22857"/>
            </a:avLst>
          </a:prstGeom>
          <a:solidFill>
            <a:srgbClr val="8CC7DD"/>
          </a:solidFill>
          <a:ln w="9525">
            <a:solidFill>
              <a:srgbClr val="8CC7D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732520" y="29260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~2–4 s (network dependent)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86400" y="3520440"/>
            <a:ext cx="3108960" cy="0"/>
          </a:xfrm>
          <a:prstGeom prst="line">
            <a:avLst/>
          </a:prstGeom>
          <a:noFill/>
          <a:ln w="22225">
            <a:solidFill>
              <a:srgbClr val="9CA3A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212080" y="35661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5989320" y="35661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766560" y="35661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7543800" y="35661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8321040" y="35661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822960" y="411480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7F8FA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2960" y="42062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72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 ms</a:t>
            </a:r>
            <a:endParaRPr lang="en-US" sz="2800" dirty="0"/>
          </a:p>
        </p:txBody>
      </p:sp>
      <p:sp>
        <p:nvSpPr>
          <p:cNvPr id="27" name="Text 24"/>
          <p:cNvSpPr txBox="1"/>
          <p:nvPr/>
        </p:nvSpPr>
        <p:spPr>
          <a:xfrm>
            <a:off x="1005840" y="48463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filtered query (~50 items)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4480560" y="411480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7F8FA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480560" y="42062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72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~28 MB</a:t>
            </a:r>
            <a:endParaRPr lang="en-US" sz="2800" dirty="0"/>
          </a:p>
        </p:txBody>
      </p:sp>
      <p:sp>
        <p:nvSpPr>
          <p:cNvPr id="30" name="Text 27"/>
          <p:cNvSpPr txBox="1"/>
          <p:nvPr/>
        </p:nvSpPr>
        <p:spPr>
          <a:xfrm>
            <a:off x="4663440" y="48463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APK (incl. ML Kit, Firebase)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8138160" y="411480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7F8FA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138160" y="42062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72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</a:t>
            </a:r>
            <a:endParaRPr lang="en-US" sz="2800" dirty="0"/>
          </a:p>
        </p:txBody>
      </p:sp>
      <p:sp>
        <p:nvSpPr>
          <p:cNvPr id="33" name="Text 30"/>
          <p:cNvSpPr txBox="1"/>
          <p:nvPr/>
        </p:nvSpPr>
        <p:spPr>
          <a:xfrm>
            <a:off x="8321040" y="48463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50-item list scroll, no dropped frames</a:t>
            </a:r>
            <a:endParaRPr lang="en-US" sz="125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56692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the Android Studio emulator (Pixel 6, API 34); OTP, camera and push verified on a physical phone.</a:t>
            </a:r>
            <a:endParaRPr lang="en-US" sz="12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3848" y="128016"/>
            <a:ext cx="1984248" cy="1453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41832" y="4572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Discussion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2651760" y="63825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DEVELOPMENT – PROJECT REVIEW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822960" y="178308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F7F8FA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1783080"/>
            <a:ext cx="109728" cy="1280160"/>
          </a:xfrm>
          <a:prstGeom prst="roundRect">
            <a:avLst>
              <a:gd name="adj" fmla="val 66667"/>
            </a:avLst>
          </a:prstGeom>
          <a:solidFill>
            <a:srgbClr val="1B7295"/>
          </a:solidFill>
          <a:ln w="9525">
            <a:solidFill>
              <a:srgbClr val="1B729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18928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72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Printed date is the source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22860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 the printed date (manual entry if unreadable) keeps reminders trustworthy.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0" y="178308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F7F8FA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1783080"/>
            <a:ext cx="109728" cy="1280160"/>
          </a:xfrm>
          <a:prstGeom prst="roundRect">
            <a:avLst>
              <a:gd name="adj" fmla="val 66667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675120" y="18928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expiry utility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675120" y="22860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Countdowns and colours stay consistent on every screen.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822960" y="324612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F7F8FA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22960" y="3246120"/>
            <a:ext cx="109728" cy="1280160"/>
          </a:xfrm>
          <a:prstGeom prst="roundRect">
            <a:avLst>
              <a:gd name="adj" fmla="val 66667"/>
            </a:avLst>
          </a:prstGeom>
          <a:solidFill>
            <a:srgbClr val="B45309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97280" y="335584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bug fixed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097280" y="37490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stale cached number was reused; the typed number is now the source.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0" y="324612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F7F8FA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00800" y="3246120"/>
            <a:ext cx="109728" cy="1280160"/>
          </a:xfrm>
          <a:prstGeom prst="roundRect">
            <a:avLst>
              <a:gd name="adj" fmla="val 66667"/>
            </a:avLst>
          </a:prstGeom>
          <a:solidFill>
            <a:srgbClr val="0B5A82"/>
          </a:solidFill>
          <a:ln w="9525">
            <a:solidFill>
              <a:srgbClr val="0B5A8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675120" y="335584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pantry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675120" y="37490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pantry works offline via Room; AI features fail gracefully without internet.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822960" y="4709160"/>
            <a:ext cx="10972800" cy="1280160"/>
          </a:xfrm>
          <a:prstGeom prst="roundRect">
            <a:avLst>
              <a:gd name="adj" fmla="val 5714"/>
            </a:avLst>
          </a:prstGeom>
          <a:solidFill>
            <a:srgbClr val="F7F8FA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22960" y="4709160"/>
            <a:ext cx="109728" cy="1280160"/>
          </a:xfrm>
          <a:prstGeom prst="roundRect">
            <a:avLst>
              <a:gd name="adj" fmla="val 66667"/>
            </a:avLst>
          </a:prstGeom>
          <a:solidFill>
            <a:srgbClr val="C62828"/>
          </a:solidFill>
          <a:ln w="9525">
            <a:solidFill>
              <a:srgbClr val="C6282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097280" y="481888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1097280" y="521208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Faded / handwritten labels need manual entry; AI needs internet; single household; fixed voice intents.</a:t>
            </a:r>
            <a:endParaRPr lang="en-US" sz="13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3848" y="128016"/>
            <a:ext cx="1984248" cy="1453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41832" y="4572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2651760" y="63825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DEVELOPMENT – PROJECT REVIEW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941832" y="173736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Pantry shows that a focused Android app can make household food-waste reduction practical by joining expiry tracking, AI-assisted cooking and usage analytics in one continuous loop.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relies on real printed expiry dates, real OTP verification and real usage data, and all nine test scenarios produced the expected result.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822960" y="411480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20265A"/>
          </a:solidFill>
          <a:ln w="9525">
            <a:solidFill>
              <a:srgbClr val="20265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41148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2834640" y="4617720"/>
            <a:ext cx="182880" cy="0"/>
          </a:xfrm>
          <a:prstGeom prst="line">
            <a:avLst/>
          </a:prstGeom>
          <a:noFill/>
          <a:ln w="22225">
            <a:solidFill>
              <a:srgbClr val="20265A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017520" y="411480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0B5A82"/>
          </a:solidFill>
          <a:ln w="9525">
            <a:solidFill>
              <a:srgbClr val="0B5A8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017520" y="41148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expiry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029200" y="4617720"/>
            <a:ext cx="182880" cy="0"/>
          </a:xfrm>
          <a:prstGeom prst="line">
            <a:avLst/>
          </a:prstGeom>
          <a:noFill/>
          <a:ln w="22225">
            <a:solidFill>
              <a:srgbClr val="20265A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5212080" y="411480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B45309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212080" y="41148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7223760" y="4617720"/>
            <a:ext cx="182880" cy="0"/>
          </a:xfrm>
          <a:prstGeom prst="line">
            <a:avLst/>
          </a:prstGeom>
          <a:noFill/>
          <a:ln w="22225">
            <a:solidFill>
              <a:srgbClr val="20265A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7406640" y="411480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E58A00"/>
          </a:solidFill>
          <a:ln w="9525">
            <a:solidFill>
              <a:srgbClr val="E58A0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406640" y="41148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9418320" y="4617720"/>
            <a:ext cx="182880" cy="0"/>
          </a:xfrm>
          <a:prstGeom prst="line">
            <a:avLst/>
          </a:prstGeom>
          <a:noFill/>
          <a:ln w="22225">
            <a:solidFill>
              <a:srgbClr val="20265A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9601200" y="411480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2E7D32"/>
          </a:solidFill>
          <a:ln w="9525">
            <a:solidFill>
              <a:srgbClr val="2E7D3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601200" y="41148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less</a:t>
            </a:r>
            <a:endParaRPr lang="en-US" sz="1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3848" y="128016"/>
            <a:ext cx="1984248" cy="1453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41832" y="4572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 &amp; Where It Applies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2651760" y="63825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DEVELOPMENT – PROJECT REVIEW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822960" y="1783080"/>
            <a:ext cx="5303520" cy="82296"/>
          </a:xfrm>
          <a:prstGeom prst="roundRect">
            <a:avLst>
              <a:gd name="adj" fmla="val 88889"/>
            </a:avLst>
          </a:prstGeom>
          <a:solidFill>
            <a:srgbClr val="1B7295"/>
          </a:solidFill>
          <a:ln w="9525">
            <a:solidFill>
              <a:srgbClr val="1B729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94767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72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3172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family pantry accounts across devices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 tracking against personal dietary goals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Purchase-history expiry estimates for undated items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Hands-free voice guidance inside Cook Mode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for money saved and environmental impact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0" y="1783080"/>
            <a:ext cx="5303520" cy="82296"/>
          </a:xfrm>
          <a:prstGeom prst="roundRect">
            <a:avLst>
              <a:gd name="adj" fmla="val 88889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0" y="194767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applies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6400800" y="233172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Single-household kitchens (primary use)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/ PG shared kitchens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home-based tiffin or catering services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sharing a fridge with flatmates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3848" y="128016"/>
            <a:ext cx="1984248" cy="1453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41832" y="4572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2651760" y="63825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DEVELOPMENT – PROJECT REVIEW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941832" y="23774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026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AI-POWERED SMART SHELF &amp; FOOD SAFETY AUDITOR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941832" y="31089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Harini R (24CS0298)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941832" y="36118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Supervisor: Mrs. Lydia Shammi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941832" y="45720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1B72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&amp; Suggestions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3636</Words>
  <Application>Microsoft Office PowerPoint</Application>
  <PresentationFormat>Widescreen</PresentationFormat>
  <Paragraphs>582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Smart Shelf &amp; Food Safety Auditor - Project Review</dc:title>
  <dc:subject>PptxGenJS Presentation</dc:subject>
  <dc:creator>PptxGenJS</dc:creator>
  <cp:lastModifiedBy>hari ni</cp:lastModifiedBy>
  <cp:revision>2</cp:revision>
  <dcterms:created xsi:type="dcterms:W3CDTF">2026-10-02T07:51:15Z</dcterms:created>
  <dcterms:modified xsi:type="dcterms:W3CDTF">2026-10-28T14:59:41Z</dcterms:modified>
</cp:coreProperties>
</file>